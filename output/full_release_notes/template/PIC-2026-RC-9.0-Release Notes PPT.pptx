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D22C7D-AB00-8C41-80DE-12DF3BE038F2}" v="1" dt="2026-03-12T07:33:43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84"/>
  </p:normalViewPr>
  <p:slideViewPr>
    <p:cSldViewPr snapToGrid="0" snapToObjects="1">
      <p:cViewPr varScale="1">
        <p:scale>
          <a:sx n="114" d="100"/>
          <a:sy n="114" d="100"/>
        </p:scale>
        <p:origin x="6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" y="310896"/>
            <a:ext cx="3657600" cy="274320"/>
          </a:xfrm>
          <a:prstGeom prst="rect">
            <a:avLst/>
          </a:prstGeom>
          <a:solidFill>
            <a:srgbClr val="00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9184" y="822960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RELEASE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1234440"/>
            <a:ext cx="4617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PICASso
Release 9.0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" y="3246120"/>
            <a:ext cx="420624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" y="3429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PIC-2026-RC-9.0  ·  Move to Prod: 05 March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6263640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52C"/>
                </a:solidFill>
              </a:rPr>
              <a:t>Schneider Electric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6729984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Confidential — For Internal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5752" y="6729984"/>
            <a:ext cx="2560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</a:rPr>
              <a:t>Schneider Electric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731520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92628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Release 9.0 — 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210312"/>
            <a:ext cx="1920240" cy="310896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12680" y="210312"/>
            <a:ext cx="1920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</a:rPr>
              <a:t>PIC-2026-RC-9.0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729984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Confidential — For Internal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5752" y="6729984"/>
            <a:ext cx="2560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</a:rPr>
              <a:t>Schneider Electric</a:t>
            </a:r>
          </a:p>
        </p:txBody>
      </p:sp>
      <p:sp>
        <p:nvSpPr>
          <p:cNvPr id="10" name="Oval 9"/>
          <p:cNvSpPr/>
          <p:nvPr/>
        </p:nvSpPr>
        <p:spPr>
          <a:xfrm>
            <a:off x="384048" y="1024128"/>
            <a:ext cx="438912" cy="43891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73" y="1090230"/>
            <a:ext cx="2888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1024128"/>
            <a:ext cx="6118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333333"/>
                </a:solidFill>
              </a:rPr>
              <a:t>Delegated Requirements Traceability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5" y="1426464"/>
            <a:ext cx="70142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66666"/>
                </a:solidFill>
              </a:rPr>
              <a:t>New capability: cross-product requirement delegation tracked end-to-end in PICASso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331720"/>
            <a:ext cx="6685544" cy="9525"/>
          </a:xfrm>
          <a:prstGeom prst="rect">
            <a:avLst/>
          </a:prstGeom>
          <a:solidFill>
            <a:srgbClr val="D6E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84048" y="2432304"/>
            <a:ext cx="438912" cy="43891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073" y="2487389"/>
            <a:ext cx="2888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2432304"/>
            <a:ext cx="6118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333333"/>
                </a:solidFill>
              </a:rPr>
              <a:t>Data Protection &amp; Privacy — Maturity Visibility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5" y="2834640"/>
            <a:ext cx="70142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</a:rPr>
              <a:t>Compliance clarity: unreviewed sections now explicitly flagged to reviewers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739896"/>
            <a:ext cx="6685544" cy="9525"/>
          </a:xfrm>
          <a:prstGeom prst="rect">
            <a:avLst/>
          </a:prstGeom>
          <a:solidFill>
            <a:srgbClr val="D6E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84048" y="3840480"/>
            <a:ext cx="438912" cy="43891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9073" y="3906582"/>
            <a:ext cx="2888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840480"/>
            <a:ext cx="6118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333333"/>
                </a:solidFill>
              </a:rPr>
              <a:t>Defect Fixes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5" y="4242816"/>
            <a:ext cx="70142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</a:rPr>
              <a:t>Quality improvements across core requirements, BackOffice, CSRR, and export 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731520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92628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Delegated Requirements Traceability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210312"/>
            <a:ext cx="1920240" cy="310896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12680" y="210312"/>
            <a:ext cx="1920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PIC-2026-RC-9.0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420624"/>
          </a:xfrm>
          <a:prstGeom prst="rect">
            <a:avLst/>
          </a:prstGeom>
          <a:solidFill>
            <a:srgbClr val="E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731520"/>
            <a:ext cx="64008" cy="420624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" y="795528"/>
            <a:ext cx="118597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006B1E"/>
                </a:solidFill>
              </a:rPr>
              <a:t>Eliminates compliance blind spots: delegation details that previously lived in emails are now formally captured and traceable in PICASso.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6729984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Confidential — For Internal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5752" y="6729984"/>
            <a:ext cx="2560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</a:rPr>
              <a:t>Schneider Electric</a:t>
            </a:r>
          </a:p>
        </p:txBody>
      </p:sp>
      <p:sp>
        <p:nvSpPr>
          <p:cNvPr id="13" name="Oval 12"/>
          <p:cNvSpPr/>
          <p:nvPr/>
        </p:nvSpPr>
        <p:spPr>
          <a:xfrm>
            <a:off x="402336" y="1463040"/>
            <a:ext cx="118872" cy="11887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" y="1316736"/>
            <a:ext cx="5084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Previously, requirements delegated to partner products had no formal record in PICASso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10512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Teams tracked delegation in emails and spreadsheets — creating audit and compliance risk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" y="2432304"/>
            <a:ext cx="118872" cy="11887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4" y="2286000"/>
            <a:ext cx="5084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Now: each delegation is recorded with target product, release, requirement, due date, and scope covered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2779776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Status and Evaluation Status of the delegated-to requirement update automatically — no manual chasing</a:t>
            </a:r>
          </a:p>
        </p:txBody>
      </p:sp>
      <p:sp>
        <p:nvSpPr>
          <p:cNvPr id="19" name="Oval 18"/>
          <p:cNvSpPr/>
          <p:nvPr/>
        </p:nvSpPr>
        <p:spPr>
          <a:xfrm>
            <a:off x="402336" y="3401568"/>
            <a:ext cx="118872" cy="11887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" y="3255264"/>
            <a:ext cx="5084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Traceability is bidirectional — visible from both the delegating and delegated-to requirement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3749040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Collapsible section on the delegated-to requirement lists all dependants with status and due dates</a:t>
            </a:r>
          </a:p>
        </p:txBody>
      </p:sp>
      <p:sp>
        <p:nvSpPr>
          <p:cNvPr id="22" name="Oval 21"/>
          <p:cNvSpPr/>
          <p:nvPr/>
        </p:nvSpPr>
        <p:spPr>
          <a:xfrm>
            <a:off x="402336" y="4370832"/>
            <a:ext cx="118872" cy="11887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" y="4224528"/>
            <a:ext cx="5084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Warning surfaces at release submission if delegation details are incomplete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4718304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Release manager is informed before moving to the next stage — submission is not blocked</a:t>
            </a:r>
          </a:p>
        </p:txBody>
      </p:sp>
      <p:sp>
        <p:nvSpPr>
          <p:cNvPr id="25" name="Oval 24"/>
          <p:cNvSpPr/>
          <p:nvPr/>
        </p:nvSpPr>
        <p:spPr>
          <a:xfrm>
            <a:off x="402336" y="5340096"/>
            <a:ext cx="118872" cy="11887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" y="5193792"/>
            <a:ext cx="5084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Delegation details propagate automatically when a release is cloned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5687568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Zero re-entry overhead for next release cycle; both directions ('Delegated to' and 'From') are copied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07024" y="1316736"/>
            <a:ext cx="5897880" cy="5321808"/>
          </a:xfrm>
          <a:prstGeom prst="rect">
            <a:avLst/>
          </a:prstGeom>
          <a:solidFill>
            <a:srgbClr val="EBF7ED"/>
          </a:solidFill>
          <a:ln w="12700">
            <a:solidFill>
              <a:srgbClr val="A8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563356" y="3962400"/>
            <a:ext cx="585216" cy="30480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840724" y="3685032"/>
            <a:ext cx="30480" cy="585216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98464" y="4105656"/>
            <a:ext cx="571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952C"/>
                </a:solidFill>
              </a:rPr>
              <a:t>[ Screenshot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44184" y="4398264"/>
            <a:ext cx="5623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D8B4"/>
                </a:solidFill>
              </a:rPr>
              <a:t>Edit Requirement pop-up: 'Delegated' status selected, showing delegation fields — Product Name, Release, Requirement, Due 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731520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92628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Flexible Delegation Input — Three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210312"/>
            <a:ext cx="1920240" cy="310896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12680" y="210312"/>
            <a:ext cx="1920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PIC-2026-RC-9.0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420624"/>
          </a:xfrm>
          <a:prstGeom prst="rect">
            <a:avLst/>
          </a:prstGeom>
          <a:solidFill>
            <a:srgbClr val="E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731520"/>
            <a:ext cx="64008" cy="420624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" y="795528"/>
            <a:ext cx="118597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006B1E"/>
                </a:solidFill>
              </a:rPr>
              <a:t>Designed for fast adoption at any team size: individual entry, bulk operations, and Excel upload all supported from day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6729984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Confidential — For Internal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5752" y="6729984"/>
            <a:ext cx="2560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</a:rPr>
              <a:t>Schneider Electric</a:t>
            </a:r>
          </a:p>
        </p:txBody>
      </p:sp>
      <p:sp>
        <p:nvSpPr>
          <p:cNvPr id="13" name="Oval 12"/>
          <p:cNvSpPr/>
          <p:nvPr/>
        </p:nvSpPr>
        <p:spPr>
          <a:xfrm>
            <a:off x="402336" y="1463040"/>
            <a:ext cx="118872" cy="11887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" y="1316736"/>
            <a:ext cx="5084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Manual — open any requirement, select 'Delegated' to reveal the delegation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10512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Supports multiple target products and requirements per delegated item via '+Add' buttons; each removable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" y="2432304"/>
            <a:ext cx="118872" cy="11887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4" y="2286000"/>
            <a:ext cx="5084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Bulk Actions — delegate multiple requirements simultaneously in a single operation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2779776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Overwrite protection: confirmation required if any selected requirements already have delegation details</a:t>
            </a:r>
          </a:p>
        </p:txBody>
      </p:sp>
      <p:sp>
        <p:nvSpPr>
          <p:cNvPr id="19" name="Oval 18"/>
          <p:cNvSpPr/>
          <p:nvPr/>
        </p:nvSpPr>
        <p:spPr>
          <a:xfrm>
            <a:off x="402336" y="3401568"/>
            <a:ext cx="118872" cy="11887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" y="3255264"/>
            <a:ext cx="5084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Excel import — new 'Delegation Details' tab in the exported XLSX, pre-populated where data exists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3749040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Supports multi-product and multi-requirement rows per requirement; 'Instructions' tab provides step-by-step guidance</a:t>
            </a:r>
          </a:p>
        </p:txBody>
      </p:sp>
      <p:sp>
        <p:nvSpPr>
          <p:cNvPr id="22" name="Oval 21"/>
          <p:cNvSpPr/>
          <p:nvPr/>
        </p:nvSpPr>
        <p:spPr>
          <a:xfrm>
            <a:off x="402336" y="4370832"/>
            <a:ext cx="118872" cy="11887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" y="4224528"/>
            <a:ext cx="5084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Full import validation prevents bad data from entering the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4718304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Checks: product ID format, requirement scope for release, date format, duplicates, deactivated references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07024" y="1316736"/>
            <a:ext cx="5897880" cy="5321808"/>
          </a:xfrm>
          <a:prstGeom prst="rect">
            <a:avLst/>
          </a:prstGeom>
          <a:solidFill>
            <a:srgbClr val="EBF7ED"/>
          </a:solidFill>
          <a:ln w="12700">
            <a:solidFill>
              <a:srgbClr val="A8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563356" y="3962400"/>
            <a:ext cx="585216" cy="30480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40724" y="3685032"/>
            <a:ext cx="30480" cy="585216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98464" y="4105656"/>
            <a:ext cx="571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952C"/>
                </a:solidFill>
              </a:rPr>
              <a:t>[ Screenshot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4184" y="4398264"/>
            <a:ext cx="5623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D8B4"/>
                </a:solidFill>
              </a:rPr>
              <a:t>Bulk Actions delegation form: multiple requirements selected, delegation fields visible, overwrite confirmation pop-up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731520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92628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Delegation Visibility Across the Entire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210312"/>
            <a:ext cx="1920240" cy="310896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12680" y="210312"/>
            <a:ext cx="1920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PIC-2026-RC-9.0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420624"/>
          </a:xfrm>
          <a:prstGeom prst="rect">
            <a:avLst/>
          </a:prstGeom>
          <a:solidFill>
            <a:srgbClr val="E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731520"/>
            <a:ext cx="64008" cy="420624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" y="795528"/>
            <a:ext cx="118597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006B1E"/>
                </a:solidFill>
              </a:rPr>
              <a:t>Delegation status is surfaced wherever teams work — requirements, SDL, privacy reviews, and Jira/Jama — with full audit trail.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6729984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Confidential — For Internal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5752" y="6729984"/>
            <a:ext cx="2560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</a:rPr>
              <a:t>Schneider Electric</a:t>
            </a:r>
          </a:p>
        </p:txBody>
      </p:sp>
      <p:sp>
        <p:nvSpPr>
          <p:cNvPr id="13" name="Oval 12"/>
          <p:cNvSpPr/>
          <p:nvPr/>
        </p:nvSpPr>
        <p:spPr>
          <a:xfrm>
            <a:off x="402336" y="1463040"/>
            <a:ext cx="118872" cy="11887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" y="1316736"/>
            <a:ext cx="5084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Delegation fields visible in Requirements View, Edit pop-ups, CSRR tab, and all DPPR tab sections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10512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All linked values are clickable — one click navigates to the delegated entity in read-only mode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" y="2432304"/>
            <a:ext cx="118872" cy="11887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4" y="2286000"/>
            <a:ext cx="5084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Jira / Jama sync: warning icon flags 'Delegated' status set via sync without delegation details filled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2779776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Warning re-surfaced at release stage submission so nothing slips through the workflow unnoticed</a:t>
            </a:r>
          </a:p>
        </p:txBody>
      </p:sp>
      <p:sp>
        <p:nvSpPr>
          <p:cNvPr id="19" name="Oval 18"/>
          <p:cNvSpPr/>
          <p:nvPr/>
        </p:nvSpPr>
        <p:spPr>
          <a:xfrm>
            <a:off x="402336" y="3401568"/>
            <a:ext cx="118872" cy="11887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" y="3255264"/>
            <a:ext cx="5084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Complete audit trail: 'Delegation Details Update' activity logged in release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3749040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Every add, change, or removal — with timestamp and user — filterable in the 'Filter by Activity' dropdown</a:t>
            </a:r>
          </a:p>
        </p:txBody>
      </p:sp>
      <p:sp>
        <p:nvSpPr>
          <p:cNvPr id="22" name="Oval 21"/>
          <p:cNvSpPr/>
          <p:nvPr/>
        </p:nvSpPr>
        <p:spPr>
          <a:xfrm>
            <a:off x="402336" y="4370832"/>
            <a:ext cx="118872" cy="11887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" y="4224528"/>
            <a:ext cx="5084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Delegation context available during formal SDL and Privacy review sessions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4718304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CSRR and DPPR tabs display both the delegating requirement's details and the delegated-to requirement's collapsible section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07024" y="1316736"/>
            <a:ext cx="5897880" cy="5321808"/>
          </a:xfrm>
          <a:prstGeom prst="rect">
            <a:avLst/>
          </a:prstGeom>
          <a:solidFill>
            <a:srgbClr val="EBF7ED"/>
          </a:solidFill>
          <a:ln w="12700">
            <a:solidFill>
              <a:srgbClr val="A8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563356" y="3962400"/>
            <a:ext cx="585216" cy="30480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40724" y="3685032"/>
            <a:ext cx="30480" cy="585216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98464" y="4105656"/>
            <a:ext cx="571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952C"/>
                </a:solidFill>
              </a:rPr>
              <a:t>[ Screenshot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4184" y="4398264"/>
            <a:ext cx="5623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D8B4"/>
                </a:solidFill>
              </a:rPr>
              <a:t>Release history log showing 'Delegation Details Update' entry with filter dropdown; Jira warning icon visible on requirement row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731520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92628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Data Protection &amp; Privacy — Maturity Level Clarity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210312"/>
            <a:ext cx="1920240" cy="310896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12680" y="210312"/>
            <a:ext cx="1920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PIC-2026-RC-9.0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420624"/>
          </a:xfrm>
          <a:prstGeom prst="rect">
            <a:avLst/>
          </a:prstGeom>
          <a:solidFill>
            <a:srgbClr val="E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731520"/>
            <a:ext cx="64008" cy="420624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" y="795528"/>
            <a:ext cx="118597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006B1E"/>
                </a:solidFill>
              </a:rPr>
              <a:t>Privacy review status is now unambiguous: a section showing a maturity level has always been reviewed; 'Not Yet Evaluated' means it has not.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6729984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Confidential — For Internal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5752" y="6729984"/>
            <a:ext cx="2560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</a:rPr>
              <a:t>Schneider Electric</a:t>
            </a:r>
          </a:p>
        </p:txBody>
      </p:sp>
      <p:sp>
        <p:nvSpPr>
          <p:cNvPr id="13" name="Oval 12"/>
          <p:cNvSpPr/>
          <p:nvPr/>
        </p:nvSpPr>
        <p:spPr>
          <a:xfrm>
            <a:off x="402336" y="1463040"/>
            <a:ext cx="118872" cy="11887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" y="1316736"/>
            <a:ext cx="5084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Previous behaviour: sections with only an Expected Maturity level appeared to be reviewed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10512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Auto-filled default value created false confidence — unreviewed sections were indistinguishable from reviewed ones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" y="2432304"/>
            <a:ext cx="118872" cy="11887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4" y="2286000"/>
            <a:ext cx="5084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New behaviour: 'Not Yet Evaluated' stamp shown by default until a reviewer manually saves a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2779776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Applies to all applicable sections not marked 'Not Applicable' where no manual Maturity level has been set</a:t>
            </a:r>
          </a:p>
        </p:txBody>
      </p:sp>
      <p:sp>
        <p:nvSpPr>
          <p:cNvPr id="19" name="Oval 18"/>
          <p:cNvSpPr/>
          <p:nvPr/>
        </p:nvSpPr>
        <p:spPr>
          <a:xfrm>
            <a:off x="402336" y="3401568"/>
            <a:ext cx="118872" cy="11887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" y="3255264"/>
            <a:ext cx="5084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Once saved, the stamp updates immediately to show the maturity level name selected by the reviewer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3749040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No page refresh required; change is visible to all users in real time across the Privacy Section sidebar</a:t>
            </a:r>
          </a:p>
        </p:txBody>
      </p:sp>
      <p:sp>
        <p:nvSpPr>
          <p:cNvPr id="22" name="Oval 21"/>
          <p:cNvSpPr/>
          <p:nvPr/>
        </p:nvSpPr>
        <p:spPr>
          <a:xfrm>
            <a:off x="402336" y="4370832"/>
            <a:ext cx="118872" cy="118872"/>
          </a:xfrm>
          <a:prstGeom prst="ellipse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" y="4224528"/>
            <a:ext cx="5084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Visual arrows show alignment with the Expected Maturity: ↑ above / ↓ below / no arrow = on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4718304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Enables instant scan of compliance posture — reviewers see at a glance which sections need attention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07024" y="1316736"/>
            <a:ext cx="5897880" cy="5321808"/>
          </a:xfrm>
          <a:prstGeom prst="rect">
            <a:avLst/>
          </a:prstGeom>
          <a:solidFill>
            <a:srgbClr val="EBF7ED"/>
          </a:solidFill>
          <a:ln w="12700">
            <a:solidFill>
              <a:srgbClr val="A8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563356" y="3962400"/>
            <a:ext cx="585216" cy="30480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40724" y="3685032"/>
            <a:ext cx="30480" cy="585216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98464" y="4105656"/>
            <a:ext cx="5715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952C"/>
                </a:solidFill>
              </a:rPr>
              <a:t>[ Screenshot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4184" y="4398264"/>
            <a:ext cx="5623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D8B4"/>
                </a:solidFill>
              </a:rPr>
              <a:t>Privacy Section sidebar: left shows 'Not Yet Evaluated' stamp (unreviewed); right shows maturity level name with alignment arrow (reviewed)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731520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92628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10 Defect Fixes — Quality &amp; Stability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210312"/>
            <a:ext cx="1920240" cy="310896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12680" y="210312"/>
            <a:ext cx="1920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PIC-2026-RC-9.0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420624"/>
          </a:xfrm>
          <a:prstGeom prst="rect">
            <a:avLst/>
          </a:prstGeom>
          <a:solidFill>
            <a:srgbClr val="E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731520"/>
            <a:ext cx="64008" cy="420624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" y="795528"/>
            <a:ext cx="639213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 dirty="0">
                <a:solidFill>
                  <a:srgbClr val="006B1E"/>
                </a:solidFill>
              </a:rPr>
              <a:t>Fixes span requirements management, data integrity, BackOffice configuration, and export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6729984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Confidential — For Internal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5752" y="6729984"/>
            <a:ext cx="2560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</a:rPr>
              <a:t>Schneider Electric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408176"/>
            <a:ext cx="256032" cy="25603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1389888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380744"/>
            <a:ext cx="11091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Requirements no longer duplicated in releases or submitted to Jama as duplicates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1883664"/>
            <a:ext cx="256032" cy="25603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186537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1856232"/>
            <a:ext cx="11091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Must/Should column restored in exported Product Requirements XLSX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359152"/>
            <a:ext cx="256032" cy="25603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2340864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331720"/>
            <a:ext cx="11091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DPP Risk value now correctly cloned when a release is copied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2834640"/>
            <a:ext cx="256032" cy="25603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2816352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2807208"/>
            <a:ext cx="11091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Closed actions no longer block editing of other actions in the same section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3310128"/>
            <a:ext cx="256032" cy="25603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3291840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282696"/>
            <a:ext cx="11091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CSRR: Summary field text now fully displayed (was truncated to one line)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3785616"/>
            <a:ext cx="256032" cy="25603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" y="3767328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3758184"/>
            <a:ext cx="11091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Limited-scope users can no longer see unauthorized Organizations in filters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4261104"/>
            <a:ext cx="256032" cy="25603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4048" y="424281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233672"/>
            <a:ext cx="11091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Approver role now correctly recorded in multi-approver release history stages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4736592"/>
            <a:ext cx="256032" cy="25603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4718304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709160"/>
            <a:ext cx="11091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BackOffice: Excel template upload error message is now accurate and actionable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12080"/>
            <a:ext cx="256032" cy="25603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4048" y="5193792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184648"/>
            <a:ext cx="11091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BackOffice: Inactive API consumer records can now be reactivated without errors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5687568"/>
            <a:ext cx="256032" cy="256032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5669280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5660136"/>
            <a:ext cx="11091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BackOffice: 'Add Severity Input' in SCA Tool List works without errors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731520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92628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Key Benefits — Release 9.0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210312"/>
            <a:ext cx="1920240" cy="310896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12680" y="210312"/>
            <a:ext cx="1920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PIC-2026-RC-9.0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729984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Confidential — For Internal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5752" y="6729984"/>
            <a:ext cx="2560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</a:rPr>
              <a:t>Schneider Electric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932688"/>
            <a:ext cx="5609844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932688"/>
            <a:ext cx="5609844" cy="1005840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932688"/>
            <a:ext cx="109728" cy="100584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987552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3DCD58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2934" y="1042416"/>
            <a:ext cx="2108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 i="0">
                <a:solidFill>
                  <a:srgbClr val="EDF9F0"/>
                </a:solidFill>
              </a:rPr>
              <a:t>COMPLIANCE &amp; AUDIT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1938528"/>
            <a:ext cx="5609844" cy="254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084832"/>
            <a:ext cx="53355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52C"/>
                </a:solidFill>
              </a:rPr>
              <a:t>Formal Delegation Trail — End to 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596896"/>
            <a:ext cx="533552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Requirements delegated to partner products or external teams are now formally captured in PICASso. Delegation details — product, release, requirement, due date, and scope — replace email chains and spreadsheets that previously created audit and compliance exposure.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5060" y="932688"/>
            <a:ext cx="5609844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5060" y="932688"/>
            <a:ext cx="5609844" cy="1005840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5060" y="932688"/>
            <a:ext cx="109728" cy="100584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7940" y="987552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3DCD58"/>
                </a:solidFill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3807" y="1042416"/>
            <a:ext cx="19182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 i="0" dirty="0">
                <a:solidFill>
                  <a:srgbClr val="EDF9F0"/>
                </a:solidFill>
              </a:rPr>
              <a:t>RISK MANAGEMENT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5060" y="1938528"/>
            <a:ext cx="5609844" cy="254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9652" y="2084832"/>
            <a:ext cx="53355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52C"/>
                </a:solidFill>
              </a:rPr>
              <a:t>Risk Surfaced Before It Escalates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9652" y="2596896"/>
            <a:ext cx="533552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Delegation warnings surface at every stage submission. Jira/Jama sync flags missing details in real time. Bidirectional traceability shows exactly which products depend on each requirement — issues are caught at the gate, not after the fact.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3538728"/>
            <a:ext cx="5609844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4048" y="3538728"/>
            <a:ext cx="5609844" cy="1005840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" y="3538728"/>
            <a:ext cx="109728" cy="100584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3593592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3DCD58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6333" y="3648456"/>
            <a:ext cx="21046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 i="0" dirty="0">
                <a:solidFill>
                  <a:srgbClr val="EDF9F0"/>
                </a:solidFill>
              </a:rPr>
              <a:t>PRIVACY COMPLIANCE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4544568"/>
            <a:ext cx="5609844" cy="254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690872"/>
            <a:ext cx="53355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52C"/>
                </a:solidFill>
              </a:rPr>
              <a:t>Unambiguous Privacy Review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202936"/>
            <a:ext cx="533552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'Not Yet Evaluated' replaces misleading auto-filled maturity values. Reviewers instantly see which Privacy sections still need their attention. Arrow indicators show alignment with Expected Maturity at a glance — eliminating false confidence in compliance posture.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5060" y="3538728"/>
            <a:ext cx="5609844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95060" y="3538728"/>
            <a:ext cx="5609844" cy="1005840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95060" y="3538728"/>
            <a:ext cx="109728" cy="100584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77940" y="3593592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3DCD58"/>
                </a:solidFill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0405" y="3648456"/>
            <a:ext cx="24016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 i="0" dirty="0">
                <a:solidFill>
                  <a:srgbClr val="EDF9F0"/>
                </a:solidFill>
              </a:rPr>
              <a:t>OPERATIONAL EFFICIENCY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5060" y="4544568"/>
            <a:ext cx="5609844" cy="254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59652" y="4690872"/>
            <a:ext cx="53355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52C"/>
                </a:solidFill>
              </a:rPr>
              <a:t>Less Manual Work Per Release Cycle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9652" y="5202936"/>
            <a:ext cx="533552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Bulk delegation, Excel import with full validation, and automatic propagation on release clone reduce manual overhead. Delegation details set once are carried forward — no re-entry required for the next cycle.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6108192"/>
            <a:ext cx="11420856" cy="493776"/>
          </a:xfrm>
          <a:prstGeom prst="rect">
            <a:avLst/>
          </a:prstGeom>
          <a:solidFill>
            <a:srgbClr val="009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84048" y="6108192"/>
            <a:ext cx="457200" cy="493776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4048" y="6186922"/>
            <a:ext cx="457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</a:rPr>
              <a:t>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9283" y="6174805"/>
            <a:ext cx="118494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600" b="1" i="0" dirty="0">
                <a:solidFill>
                  <a:schemeClr val="bg1"/>
                </a:solidFill>
              </a:rPr>
              <a:t>RELIABILITY</a:t>
            </a:r>
            <a:endParaRPr sz="1600" b="1" i="0" dirty="0">
              <a:solidFill>
                <a:schemeClr val="bg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944368" y="6217920"/>
            <a:ext cx="19050" cy="27432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096993" y="6216580"/>
            <a:ext cx="833112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FFFFFF"/>
                </a:solidFill>
              </a:rPr>
              <a:t>Defects fixed:</a:t>
            </a:r>
            <a:r>
              <a:rPr sz="1200" b="0" i="0" dirty="0">
                <a:solidFill>
                  <a:srgbClr val="FFFFFF"/>
                </a:solidFill>
              </a:rPr>
              <a:t> </a:t>
            </a:r>
            <a:r>
              <a:rPr lang="en-US" sz="1200" dirty="0">
                <a:solidFill>
                  <a:srgbClr val="FFFFFF"/>
                </a:solidFill>
              </a:rPr>
              <a:t>· R</a:t>
            </a:r>
            <a:r>
              <a:rPr sz="1200" b="0" i="0" dirty="0">
                <a:solidFill>
                  <a:srgbClr val="FFFFFF"/>
                </a:solidFill>
              </a:rPr>
              <a:t>equirements management  ·  BackOffice configuration  ·  CSRR &amp; export accuracy  ·  </a:t>
            </a:r>
            <a:r>
              <a:rPr lang="en-US" sz="1200" b="0" i="0" dirty="0">
                <a:solidFill>
                  <a:srgbClr val="FFFFFF"/>
                </a:solidFill>
              </a:rPr>
              <a:t>D</a:t>
            </a:r>
            <a:r>
              <a:rPr sz="1200" b="0" i="0" dirty="0">
                <a:solidFill>
                  <a:srgbClr val="FFFFFF"/>
                </a:solidFill>
              </a:rPr>
              <a:t>ata integrity &amp; access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1234</Words>
  <Application>Microsoft Macintosh PowerPoint</Application>
  <PresentationFormat>Custom</PresentationFormat>
  <Paragraphs>129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Uladzislau Baranouski</cp:lastModifiedBy>
  <cp:revision>4</cp:revision>
  <dcterms:created xsi:type="dcterms:W3CDTF">2013-01-27T09:14:16Z</dcterms:created>
  <dcterms:modified xsi:type="dcterms:W3CDTF">2026-03-12T07:34:11Z</dcterms:modified>
  <cp:category/>
</cp:coreProperties>
</file>